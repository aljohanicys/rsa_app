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/>
  <p:notesSz cx="8229600" cy="146304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Merriweather" panose="00000500000000000000" pitchFamily="2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522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12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566154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RSA: The Asymmetric Encryption Algorithm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4478893"/>
            <a:ext cx="741640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comprehensive exploration of RSA cryptography, its mathematical foundations, implementation, and real-world applications.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521387"/>
            <a:ext cx="10482858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Student RSA Implementation Team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786307"/>
            <a:ext cx="129028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following team members collaborated on our RSA implementation project: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94636" y="4446508"/>
            <a:ext cx="555188" cy="641509"/>
          </a:xfrm>
          <a:prstGeom prst="roundRect">
            <a:avLst>
              <a:gd name="adj" fmla="val 9882"/>
            </a:avLst>
          </a:prstGeom>
          <a:solidFill>
            <a:srgbClr val="4D4D5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4458772"/>
            <a:ext cx="616982" cy="6169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3798" y="5322570"/>
            <a:ext cx="299430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Turki alharbi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97429" y="4446508"/>
            <a:ext cx="555188" cy="641509"/>
          </a:xfrm>
          <a:prstGeom prst="roundRect">
            <a:avLst>
              <a:gd name="adj" fmla="val 9882"/>
            </a:avLst>
          </a:prstGeom>
          <a:solidFill>
            <a:srgbClr val="4D4D5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592" y="4458772"/>
            <a:ext cx="616982" cy="6169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6592" y="5322570"/>
            <a:ext cx="299430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Mohannad aljoahni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7500223" y="4446508"/>
            <a:ext cx="555188" cy="641509"/>
          </a:xfrm>
          <a:prstGeom prst="roundRect">
            <a:avLst>
              <a:gd name="adj" fmla="val 9882"/>
            </a:avLst>
          </a:prstGeom>
          <a:solidFill>
            <a:srgbClr val="4D4D5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386" y="4458772"/>
            <a:ext cx="616982" cy="6169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69386" y="5322570"/>
            <a:ext cx="299430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Abdulkarim </a:t>
            </a:r>
            <a:r>
              <a:rPr lang="en-US" sz="2400" dirty="0" err="1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alanzi</a:t>
            </a:r>
            <a:endParaRPr lang="en-US" sz="2400" dirty="0"/>
          </a:p>
        </p:txBody>
      </p:sp>
      <p:sp>
        <p:nvSpPr>
          <p:cNvPr id="13" name="Shape 8"/>
          <p:cNvSpPr/>
          <p:nvPr/>
        </p:nvSpPr>
        <p:spPr>
          <a:xfrm>
            <a:off x="10803017" y="4446508"/>
            <a:ext cx="555188" cy="641509"/>
          </a:xfrm>
          <a:prstGeom prst="roundRect">
            <a:avLst>
              <a:gd name="adj" fmla="val 9882"/>
            </a:avLst>
          </a:prstGeom>
          <a:solidFill>
            <a:srgbClr val="4D4D5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2180" y="4458772"/>
            <a:ext cx="616982" cy="61698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72180" y="5322570"/>
            <a:ext cx="299442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Hani alhammam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4272" y="663416"/>
            <a:ext cx="6031111" cy="753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900"/>
              </a:lnSpc>
              <a:buNone/>
            </a:pPr>
            <a:r>
              <a:rPr lang="en-US" sz="4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Agenda</a:t>
            </a:r>
            <a:endParaRPr lang="en-US" sz="4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72" y="1779151"/>
            <a:ext cx="1206222" cy="14474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2325" y="2020372"/>
            <a:ext cx="3015496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Fundamentals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2412325" y="2541984"/>
            <a:ext cx="11373803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Cryptography basics and why RSA matters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72" y="3226594"/>
            <a:ext cx="1206222" cy="14474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12325" y="3467814"/>
            <a:ext cx="3015496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Mathematics</a:t>
            </a:r>
            <a:endParaRPr lang="en-US" sz="2350" dirty="0"/>
          </a:p>
        </p:txBody>
      </p:sp>
      <p:sp>
        <p:nvSpPr>
          <p:cNvPr id="8" name="Text 4"/>
          <p:cNvSpPr/>
          <p:nvPr/>
        </p:nvSpPr>
        <p:spPr>
          <a:xfrm>
            <a:off x="2412325" y="3989427"/>
            <a:ext cx="11373803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generation and encryption/decryption flow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72" y="4674037"/>
            <a:ext cx="1206222" cy="14474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12325" y="4915257"/>
            <a:ext cx="3015496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Implementation</a:t>
            </a:r>
            <a:endParaRPr lang="en-US" sz="2350" dirty="0"/>
          </a:p>
        </p:txBody>
      </p:sp>
      <p:sp>
        <p:nvSpPr>
          <p:cNvPr id="11" name="Text 6"/>
          <p:cNvSpPr/>
          <p:nvPr/>
        </p:nvSpPr>
        <p:spPr>
          <a:xfrm>
            <a:off x="2412325" y="5436870"/>
            <a:ext cx="11373803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 demo and testing results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72" y="6121479"/>
            <a:ext cx="1206222" cy="14474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12325" y="6362700"/>
            <a:ext cx="3015496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Applications</a:t>
            </a:r>
            <a:endParaRPr lang="en-US" sz="2350" dirty="0"/>
          </a:p>
        </p:txBody>
      </p:sp>
      <p:sp>
        <p:nvSpPr>
          <p:cNvPr id="14" name="Text 8"/>
          <p:cNvSpPr/>
          <p:nvPr/>
        </p:nvSpPr>
        <p:spPr>
          <a:xfrm>
            <a:off x="2412325" y="6884313"/>
            <a:ext cx="11373803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Real-world uses, security considerations, and future outlook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57826"/>
            <a:ext cx="6791206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Cryptography?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2922746"/>
            <a:ext cx="129028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Cryptography is the science of protecting information by transforming it into a secure format so only authorized parties can access it.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423683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Protections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3798" y="4869180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Confidentiality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350312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5831443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Authenticity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623929" y="4267676"/>
            <a:ext cx="6150293" cy="2026444"/>
          </a:xfrm>
          <a:prstGeom prst="roundRect">
            <a:avLst>
              <a:gd name="adj" fmla="val 5116"/>
            </a:avLst>
          </a:prstGeom>
          <a:solidFill>
            <a:srgbClr val="03234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746" y="4603313"/>
            <a:ext cx="385643" cy="3084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206" y="457616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Two Main Families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503206" y="5208508"/>
            <a:ext cx="502419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Symmetric encryption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503206" y="5689640"/>
            <a:ext cx="502419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Asymmetric encryption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5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992642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Choose RSA?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5134094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70" y="5180350"/>
            <a:ext cx="370165" cy="4627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5923" y="5218867"/>
            <a:ext cx="3293150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Historical Significancee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665923" y="6137910"/>
            <a:ext cx="329315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RSA was the first useful public-key system, made in 1977.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5267563" y="5134094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0134" y="5180350"/>
            <a:ext cx="370165" cy="4627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69687" y="5218867"/>
            <a:ext cx="319123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Widespread Adoption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6069687" y="5752386"/>
            <a:ext cx="329315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helps keep websites safe all over the world.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9671328" y="5134094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3899" y="5180350"/>
            <a:ext cx="370165" cy="4627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73452" y="521886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Many Uses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10473452" y="5752386"/>
            <a:ext cx="329315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RSA is used for digital signatures and online security systems.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626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488" y="3749040"/>
            <a:ext cx="7682746" cy="76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High-Level RSA Workflow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857488" y="5617131"/>
            <a:ext cx="4060150" cy="244912"/>
          </a:xfrm>
          <a:prstGeom prst="roundRect">
            <a:avLst>
              <a:gd name="adj" fmla="val 4201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857488" y="6229469"/>
            <a:ext cx="3062645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Generate Key Pair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57488" y="6759178"/>
            <a:ext cx="4060150" cy="783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 two keys – one public and one private – that work together.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85065" y="5249585"/>
            <a:ext cx="4060150" cy="244912"/>
          </a:xfrm>
          <a:prstGeom prst="roundRect">
            <a:avLst>
              <a:gd name="adj" fmla="val 4201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285065" y="5861923"/>
            <a:ext cx="3062645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Publish Public Key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285065" y="6391632"/>
            <a:ext cx="4060150" cy="783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Share your public key with anyone who needs to send you data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712643" y="4882158"/>
            <a:ext cx="4060150" cy="244912"/>
          </a:xfrm>
          <a:prstGeom prst="roundRect">
            <a:avLst>
              <a:gd name="adj" fmla="val 4201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9712643" y="5494496"/>
            <a:ext cx="3062645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Encrypt &amp; Decrypt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712643" y="6024205"/>
            <a:ext cx="4060150" cy="11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Messages encrypted with public key can only be decrypted with private key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162" y="570905"/>
            <a:ext cx="5187434" cy="648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Math Foundations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6162" y="1530548"/>
            <a:ext cx="7691676" cy="1210508"/>
          </a:xfrm>
          <a:prstGeom prst="roundRect">
            <a:avLst>
              <a:gd name="adj" fmla="val 719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941189" y="1745575"/>
            <a:ext cx="259365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Large Primes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41189" y="2194084"/>
            <a:ext cx="7261622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Select two large prime numbers p and q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6162" y="2948464"/>
            <a:ext cx="7691676" cy="1542455"/>
          </a:xfrm>
          <a:prstGeom prst="roundRect">
            <a:avLst>
              <a:gd name="adj" fmla="val 565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941189" y="3163491"/>
            <a:ext cx="259365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Modulus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41189" y="3611999"/>
            <a:ext cx="7261622" cy="66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Multiply them: </a:t>
            </a:r>
            <a:r>
              <a:rPr lang="en-US" sz="1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 = p × q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
This number is used to lock and unlock messages.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6162" y="4698325"/>
            <a:ext cx="7691676" cy="1542455"/>
          </a:xfrm>
          <a:prstGeom prst="roundRect">
            <a:avLst>
              <a:gd name="adj" fmla="val 565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941189" y="4913352"/>
            <a:ext cx="259365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Euler's Totient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41189" y="5361861"/>
            <a:ext cx="7261622" cy="66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this formula: </a:t>
            </a:r>
            <a:r>
              <a:rPr lang="en-US" sz="1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φ(n) = (p−1) × (q−1)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
It helps create the secret and public keys.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6162" y="6448187"/>
            <a:ext cx="7691676" cy="1210508"/>
          </a:xfrm>
          <a:prstGeom prst="roundRect">
            <a:avLst>
              <a:gd name="adj" fmla="val 719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941189" y="6663214"/>
            <a:ext cx="259365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Modular Arithmetic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41189" y="7111722"/>
            <a:ext cx="7261622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Mathematical operations performed with remainder division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35938"/>
            <a:ext cx="707933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Generation – Step 1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359" y="3522821"/>
            <a:ext cx="7741682" cy="774168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717" y="5681663"/>
            <a:ext cx="416481" cy="52066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359" y="3522821"/>
            <a:ext cx="7741682" cy="774168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6960" y="4230053"/>
            <a:ext cx="416481" cy="52066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359" y="3522821"/>
            <a:ext cx="7741682" cy="774168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1083" y="5681663"/>
            <a:ext cx="416481" cy="52066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348145" y="286726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Random Selection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863798" y="3400782"/>
            <a:ext cx="4054078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secure random number generator</a:t>
            </a:r>
            <a:endParaRPr lang="en-US" sz="1900" dirty="0"/>
          </a:p>
        </p:txBody>
      </p:sp>
      <p:sp>
        <p:nvSpPr>
          <p:cNvPr id="11" name="Text 3"/>
          <p:cNvSpPr/>
          <p:nvPr/>
        </p:nvSpPr>
        <p:spPr>
          <a:xfrm>
            <a:off x="5772388" y="210085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Primality Testing</a:t>
            </a:r>
            <a:endParaRPr lang="en-US" sz="2400" dirty="0"/>
          </a:p>
        </p:txBody>
      </p:sp>
      <p:sp>
        <p:nvSpPr>
          <p:cNvPr id="12" name="Text 4"/>
          <p:cNvSpPr/>
          <p:nvPr/>
        </p:nvSpPr>
        <p:spPr>
          <a:xfrm>
            <a:off x="5479971" y="2634377"/>
            <a:ext cx="36703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Verify numbers are truly prime</a:t>
            </a:r>
            <a:endParaRPr lang="en-US" sz="1900" dirty="0"/>
          </a:p>
        </p:txBody>
      </p:sp>
      <p:sp>
        <p:nvSpPr>
          <p:cNvPr id="13" name="Text 5"/>
          <p:cNvSpPr/>
          <p:nvPr/>
        </p:nvSpPr>
        <p:spPr>
          <a:xfrm>
            <a:off x="10196751" y="326207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Size Requirement</a:t>
            </a:r>
            <a:endParaRPr lang="en-US" sz="2400" dirty="0"/>
          </a:p>
        </p:txBody>
      </p:sp>
      <p:sp>
        <p:nvSpPr>
          <p:cNvPr id="14" name="Text 6"/>
          <p:cNvSpPr/>
          <p:nvPr/>
        </p:nvSpPr>
        <p:spPr>
          <a:xfrm>
            <a:off x="9797891" y="3795593"/>
            <a:ext cx="3883104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prime should be ≥ 1024 bits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278380"/>
            <a:ext cx="7166610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Generation – Step 2</a:t>
            </a:r>
            <a:endParaRPr lang="en-US" sz="4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198" y="3419832"/>
            <a:ext cx="566618" cy="5666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0198" y="4233267"/>
            <a:ext cx="2266474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Calculate Modulus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6350198" y="5152311"/>
            <a:ext cx="2266474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 = p × q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163" y="3419832"/>
            <a:ext cx="566618" cy="5666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25163" y="4233267"/>
            <a:ext cx="2266474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Compute Totient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8925163" y="5152311"/>
            <a:ext cx="2266474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φ(n) = (p-1) × (q-1)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0128" y="3419832"/>
            <a:ext cx="566618" cy="5666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0128" y="4233267"/>
            <a:ext cx="2266474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Foundation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11500128" y="4766786"/>
            <a:ext cx="2266474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These values form the basis of both keys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314932"/>
            <a:ext cx="715303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Generation – Step 3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70320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Public Exponent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335542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Choose e = 65,537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952405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Must be coprime to φ(n)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433536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Common choice for efficiency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370320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Private Exponent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3929" y="4335542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Calculate d = e⁻¹ mod φ(n)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4952405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Modular multiplicative inverse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5433536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Satisfies d·e ≡ 1 (mod φ(n))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488" y="673775"/>
            <a:ext cx="6380083" cy="76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Public vs Private Keys</a:t>
            </a:r>
            <a:endParaRPr lang="en-US" sz="4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88" y="1929408"/>
            <a:ext cx="6304598" cy="38964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7488" y="6132076"/>
            <a:ext cx="3062645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Public Key (e, n)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57488" y="6661785"/>
            <a:ext cx="6304598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Used for encryption and signature verification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57488" y="7200662"/>
            <a:ext cx="6304598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Can be freely distributed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314" y="1929408"/>
            <a:ext cx="6304598" cy="38964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68314" y="6132076"/>
            <a:ext cx="3062645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Private Key (d, n)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468314" y="6661785"/>
            <a:ext cx="6304598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Used for decryption and signing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468314" y="7200662"/>
            <a:ext cx="6304598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Must be kept secret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25987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Encryption Process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490907"/>
            <a:ext cx="2150388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459" y="2984897"/>
            <a:ext cx="347067" cy="433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61003" y="2737723"/>
            <a:ext cx="4623078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Start with plaintext message 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261003" y="3271242"/>
            <a:ext cx="4623078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Convert to numeric representation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137535" y="3897630"/>
            <a:ext cx="10505718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863798" y="4036219"/>
            <a:ext cx="4300895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712" y="4530209"/>
            <a:ext cx="347067" cy="4338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1510" y="4283035"/>
            <a:ext cx="3831074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Apply encryption formula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5411510" y="4816554"/>
            <a:ext cx="3831074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 = mᵉ mod n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288042" y="5442942"/>
            <a:ext cx="8355211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863798" y="5581531"/>
            <a:ext cx="6451402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966" y="6075521"/>
            <a:ext cx="347067" cy="4338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62017" y="582834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Produce ciphertext c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7562017" y="6361867"/>
            <a:ext cx="4241244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Anyone with public key can encrypt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24320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Decryption Process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1601629" y="316015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Receive ciphertext 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3693676"/>
            <a:ext cx="3823216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Encrypted data from sender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611" y="3223141"/>
            <a:ext cx="369213" cy="4616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3267" y="296275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Apply private key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9943267" y="3496270"/>
            <a:ext cx="3823335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Only the intended recipient can do this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553" y="3607475"/>
            <a:ext cx="369213" cy="4616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3267" y="5603200"/>
            <a:ext cx="3497461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decryption formula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9943267" y="6136719"/>
            <a:ext cx="382333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 = cᵈ mod n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039219" y="5809417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  <p:sp>
        <p:nvSpPr>
          <p:cNvPr id="15" name="Text 8"/>
          <p:cNvSpPr/>
          <p:nvPr/>
        </p:nvSpPr>
        <p:spPr>
          <a:xfrm>
            <a:off x="1601629" y="560320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Recover plaintext m</a:t>
            </a:r>
            <a:endParaRPr lang="en-US" sz="2400" dirty="0"/>
          </a:p>
        </p:txBody>
      </p:sp>
      <p:sp>
        <p:nvSpPr>
          <p:cNvPr id="16" name="Text 9"/>
          <p:cNvSpPr/>
          <p:nvPr/>
        </p:nvSpPr>
        <p:spPr>
          <a:xfrm>
            <a:off x="863798" y="6136719"/>
            <a:ext cx="3823216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Original message is revealed</a:t>
            </a:r>
            <a:endParaRPr lang="en-US" sz="19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7277" y="5425083"/>
            <a:ext cx="369213" cy="4616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739" y="780574"/>
            <a:ext cx="5498663" cy="687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 Code Output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739" y="1907619"/>
            <a:ext cx="13090922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Python example demonstrates RSA key generation, encryption, and decryption.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9739" y="2506861"/>
            <a:ext cx="13090922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generates a 2048-bit key pair with a public exponent of 65,537.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9739" y="3106103"/>
            <a:ext cx="13090922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message is encrypted using OAEP padding with SHA-256 and then decrypted back.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9739" y="3705344"/>
            <a:ext cx="13090922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Output includes serialized public/private keys and the original, encrypted, and decrypted messages.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9739" y="4304586"/>
            <a:ext cx="13090922" cy="3144441"/>
          </a:xfrm>
          <a:prstGeom prst="roundRect">
            <a:avLst>
              <a:gd name="adj" fmla="val 2938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58785" y="4304586"/>
            <a:ext cx="13112829" cy="3144441"/>
          </a:xfrm>
          <a:prstGeom prst="roundRect">
            <a:avLst>
              <a:gd name="adj" fmla="val 1049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78694" y="4469487"/>
            <a:ext cx="12673013" cy="2814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Message: Change final exam date Please</a:t>
            </a:r>
            <a:endParaRPr lang="en-US" sz="1700" dirty="0"/>
          </a:p>
          <a:p>
            <a:pPr marL="0" indent="0" algn="r" rtl="1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Encrypted (hex): b281be6f2d89ac9d5fffc9a8b1fc6c105f779695a8f73a60e0eefa33e1f3f32a47c9d1c0911fa76dee183aa38cdc8fa2d4765aec55f87cf0721ff695d3a76586bd76d1e4883749ef2223f32ee15a3738c94ff45a63a3be5224236bf1c585d6abddc5a25ecb86dbd54bf883a2a5b3a5048f0527f1554666c954e2f20b6dca9788517a2816cbc270eb48383b1c8d9c17c7ca2a0d568af296a77d03d2bb95c0d7b5bf0ff18bf49bffd26f0639cfc3c3a39a3311328c19515f9ecff93da58467723449b8530c19868e9f9dbaaf1ab1a9b6dcb35c9e90569ffe9c7370c111889e24399c14cb79d1bc4fad33d74fdd4c6fd2c1ea4f13737816ce746701dc4ddb89d8fe</a:t>
            </a:r>
            <a:endParaRPr lang="en-US" sz="1700" dirty="0"/>
          </a:p>
          <a:p>
            <a:pPr marL="0" indent="0" algn="r" rtl="1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Decrypted Message: Change final exam date Please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709" y="416838"/>
            <a:ext cx="3784402" cy="47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Testing &amp; Results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9709" y="1192530"/>
            <a:ext cx="8084582" cy="499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2048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3625929" y="1881068"/>
            <a:ext cx="1892141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Size (bits)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9709" y="2208252"/>
            <a:ext cx="8084582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Industry standard security level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9709" y="2980015"/>
            <a:ext cx="8084582" cy="499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245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3549968" y="3668554"/>
            <a:ext cx="20439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Ciphertext Size (bytes)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9709" y="3995738"/>
            <a:ext cx="8084582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 a 20-byte message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9709" y="4767501"/>
            <a:ext cx="8084582" cy="499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0.15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3565208" y="5456039"/>
            <a:ext cx="2013585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Encryption Time (sec)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29709" y="5783223"/>
            <a:ext cx="8084582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Average processing time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9709" y="6554986"/>
            <a:ext cx="8084582" cy="499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100%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3625929" y="7243524"/>
            <a:ext cx="1892141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Recovery Rate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29709" y="7570708"/>
            <a:ext cx="8084582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Perfect plaintext recovery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54023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Parameters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902" y="2018943"/>
            <a:ext cx="2128957" cy="142196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728" y="2689146"/>
            <a:ext cx="347067" cy="4338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00675" y="226575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4096-bit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5400675" y="2799278"/>
            <a:ext cx="411861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Maximum security for critical data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5215533" y="3456503"/>
            <a:ext cx="8489394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483" y="3502581"/>
            <a:ext cx="4257913" cy="142196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847" y="3996571"/>
            <a:ext cx="347067" cy="43386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65213" y="374939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3072-bit</a:t>
            </a:r>
            <a:endParaRPr lang="en-US" sz="2400" dirty="0"/>
          </a:p>
        </p:txBody>
      </p:sp>
      <p:sp>
        <p:nvSpPr>
          <p:cNvPr id="11" name="Text 5"/>
          <p:cNvSpPr/>
          <p:nvPr/>
        </p:nvSpPr>
        <p:spPr>
          <a:xfrm>
            <a:off x="6465213" y="4282916"/>
            <a:ext cx="461807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 security for sensitive applications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6280071" y="4940141"/>
            <a:ext cx="7424857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945" y="4986218"/>
            <a:ext cx="6386870" cy="142196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5847" y="5480209"/>
            <a:ext cx="347067" cy="43386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9632" y="523303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2048-bit</a:t>
            </a:r>
            <a:endParaRPr lang="en-US" sz="2400" dirty="0"/>
          </a:p>
        </p:txBody>
      </p:sp>
      <p:sp>
        <p:nvSpPr>
          <p:cNvPr id="16" name="Text 8"/>
          <p:cNvSpPr/>
          <p:nvPr/>
        </p:nvSpPr>
        <p:spPr>
          <a:xfrm>
            <a:off x="7529632" y="5766554"/>
            <a:ext cx="428541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Current minimum recommendation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863798" y="6685836"/>
            <a:ext cx="129028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RSA security relies on the computational difficulty of factoring the product of two large prime numbers. Larger key sizes provide stronger protection against factorization attacks.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510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256" y="3135511"/>
            <a:ext cx="7729538" cy="637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Common Attacks &amp; Mitigations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4256" y="4079319"/>
            <a:ext cx="6498907" cy="1844040"/>
          </a:xfrm>
          <a:prstGeom prst="roundRect">
            <a:avLst>
              <a:gd name="adj" fmla="val 464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925949" y="4291012"/>
            <a:ext cx="267985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Factorization Attacks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25949" y="4732258"/>
            <a:ext cx="6075521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Attackers try to break big numbers into smaller ones.
</a:t>
            </a:r>
            <a:r>
              <a:rPr lang="en-US" sz="16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🛡️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Use </a:t>
            </a:r>
            <a:r>
              <a:rPr lang="en-US" sz="1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very large key sizes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
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7237" y="4079319"/>
            <a:ext cx="6498907" cy="1844040"/>
          </a:xfrm>
          <a:prstGeom prst="roundRect">
            <a:avLst>
              <a:gd name="adj" fmla="val 464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628930" y="4291012"/>
            <a:ext cx="255877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Low-Entropy Primes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8930" y="4732258"/>
            <a:ext cx="6075521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the random numbers are not strong, attackers can guess them.
</a:t>
            </a:r>
            <a:r>
              <a:rPr lang="en-US" sz="16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🛡️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Use </a:t>
            </a:r>
            <a:r>
              <a:rPr lang="en-US" sz="1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secure random number generators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4256" y="6127433"/>
            <a:ext cx="6498907" cy="1517571"/>
          </a:xfrm>
          <a:prstGeom prst="roundRect">
            <a:avLst>
              <a:gd name="adj" fmla="val 564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925949" y="6339126"/>
            <a:ext cx="255103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Side-Channel Leaks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25949" y="6780371"/>
            <a:ext cx="6075521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Hackers measure time or power used to guess your key.
</a:t>
            </a:r>
            <a:r>
              <a:rPr lang="en-US" sz="16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🛡️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Use </a:t>
            </a:r>
            <a:r>
              <a:rPr lang="en-US" sz="1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fixed-time code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</a:t>
            </a:r>
            <a:r>
              <a:rPr lang="en-US" sz="1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extra protection tricks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17237" y="6127433"/>
            <a:ext cx="6498907" cy="1517571"/>
          </a:xfrm>
          <a:prstGeom prst="roundRect">
            <a:avLst>
              <a:gd name="adj" fmla="val 564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628930" y="6339126"/>
            <a:ext cx="255103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Brute Force Attack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28930" y="6780371"/>
            <a:ext cx="6075521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Attacker tries </a:t>
            </a:r>
            <a:r>
              <a:rPr lang="en-US" sz="1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all possible keys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
</a:t>
            </a:r>
            <a:r>
              <a:rPr lang="en-US" sz="16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🛡️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RSA is safe </a:t>
            </a:r>
            <a:r>
              <a:rPr lang="en-US" sz="1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only if keys are long enough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(2048+ bits).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326" y="1523643"/>
            <a:ext cx="5038725" cy="62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Where RSA Is Used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5592" y="2687003"/>
            <a:ext cx="2511862" cy="251186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401" y="2687003"/>
            <a:ext cx="2511981" cy="251198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329" y="2687003"/>
            <a:ext cx="2511862" cy="25118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6138" y="2687003"/>
            <a:ext cx="2511981" cy="2511981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065" y="2687003"/>
            <a:ext cx="2511862" cy="2511862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705326" y="5556171"/>
            <a:ext cx="453390" cy="453390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2"/>
          <p:cNvSpPr/>
          <p:nvPr/>
        </p:nvSpPr>
        <p:spPr>
          <a:xfrm>
            <a:off x="1360170" y="5625346"/>
            <a:ext cx="251936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Web Security</a:t>
            </a:r>
            <a:endParaRPr lang="en-US" sz="1950" dirty="0"/>
          </a:p>
        </p:txBody>
      </p:sp>
      <p:sp>
        <p:nvSpPr>
          <p:cNvPr id="10" name="Text 3"/>
          <p:cNvSpPr/>
          <p:nvPr/>
        </p:nvSpPr>
        <p:spPr>
          <a:xfrm>
            <a:off x="1360170" y="6061115"/>
            <a:ext cx="3583781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TLS/SSL handshakes for secure connections</a:t>
            </a:r>
            <a:endParaRPr lang="en-US" sz="1550" dirty="0"/>
          </a:p>
        </p:txBody>
      </p:sp>
      <p:sp>
        <p:nvSpPr>
          <p:cNvPr id="11" name="Shape 4"/>
          <p:cNvSpPr/>
          <p:nvPr/>
        </p:nvSpPr>
        <p:spPr>
          <a:xfrm>
            <a:off x="5195887" y="5556171"/>
            <a:ext cx="453390" cy="453390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5"/>
          <p:cNvSpPr/>
          <p:nvPr/>
        </p:nvSpPr>
        <p:spPr>
          <a:xfrm>
            <a:off x="5850731" y="5625346"/>
            <a:ext cx="251936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Document Integrity</a:t>
            </a:r>
            <a:endParaRPr lang="en-US" sz="1950" dirty="0"/>
          </a:p>
        </p:txBody>
      </p:sp>
      <p:sp>
        <p:nvSpPr>
          <p:cNvPr id="13" name="Text 6"/>
          <p:cNvSpPr/>
          <p:nvPr/>
        </p:nvSpPr>
        <p:spPr>
          <a:xfrm>
            <a:off x="5850731" y="6061115"/>
            <a:ext cx="358378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Digital signatures for verification</a:t>
            </a:r>
            <a:endParaRPr lang="en-US" sz="1550" dirty="0"/>
          </a:p>
        </p:txBody>
      </p:sp>
      <p:sp>
        <p:nvSpPr>
          <p:cNvPr id="14" name="Shape 7"/>
          <p:cNvSpPr/>
          <p:nvPr/>
        </p:nvSpPr>
        <p:spPr>
          <a:xfrm>
            <a:off x="9686449" y="5556171"/>
            <a:ext cx="453390" cy="453390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8"/>
          <p:cNvSpPr/>
          <p:nvPr/>
        </p:nvSpPr>
        <p:spPr>
          <a:xfrm>
            <a:off x="10341293" y="5625346"/>
            <a:ext cx="283047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Secure Communication</a:t>
            </a:r>
            <a:endParaRPr lang="en-US" sz="1950" dirty="0"/>
          </a:p>
        </p:txBody>
      </p:sp>
      <p:sp>
        <p:nvSpPr>
          <p:cNvPr id="16" name="Text 9"/>
          <p:cNvSpPr/>
          <p:nvPr/>
        </p:nvSpPr>
        <p:spPr>
          <a:xfrm>
            <a:off x="10341293" y="6061115"/>
            <a:ext cx="3583781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PGP email encryption and software update signing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162883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&amp; Q&amp;A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2304336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70" y="2350591"/>
            <a:ext cx="370165" cy="4627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5923" y="2389108"/>
            <a:ext cx="275189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Secure Exchange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665923" y="2922627"/>
            <a:ext cx="275189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RSA enables secure data exchange with public keys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4726305" y="2304336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76" y="2350591"/>
            <a:ext cx="370165" cy="4627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28429" y="2389108"/>
            <a:ext cx="2751892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Implementation Matters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5528429" y="3308152"/>
            <a:ext cx="275189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Proper key length and implementation are critical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863798" y="4986218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70" y="5032474"/>
            <a:ext cx="370165" cy="4627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65923" y="507099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Evolving Landscape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1665923" y="5604510"/>
            <a:ext cx="661427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Preparing for post-quantum future while leveraging current strengths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863798" y="6671786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Thank you for your attention! Any questions?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848</Words>
  <Application>Microsoft Office PowerPoint</Application>
  <PresentationFormat>Custom</PresentationFormat>
  <Paragraphs>168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Consolas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Mohannad A</cp:lastModifiedBy>
  <cp:revision>2</cp:revision>
  <dcterms:created xsi:type="dcterms:W3CDTF">2025-04-30T14:21:37Z</dcterms:created>
  <dcterms:modified xsi:type="dcterms:W3CDTF">2025-04-30T16:08:22Z</dcterms:modified>
</cp:coreProperties>
</file>